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05840"/>
            <a:ext cx="3840480" cy="3840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IEEE TRANSACTIONS COMPLIANT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NeuroPulse XAI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An Explainable Machine Learning Framework for Stroke Risk, Severity, and Functional Outcome Prediction on Imbalanced Clinical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10515600" cy="16459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34840"/>
            <a:ext cx="9966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Researcher &amp; Lead Author: Tanishka Mudgal (Reg. No: RA2311003011560)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</a:defRPr>
            </a:pPr>
            <a:r>
              <a:t>Department of Computing Technologies | SRM Institute of Science and Technology, Chennai, India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Contact: tm6968@srmist.edu.in | Core Stack: CatBoost • Platt Calibration • TreeSHAP • Decision Curve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Overview: Bridging Predictive AI and Clinical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Clinical Dilemma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Strokes are the #2 cause of mortality globally (6.6M annual deaths). Early identification saves millions of neurons, but traditional scores fail to model complex biological synergies.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AI Translation Barrier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Standard machine learning models suffer from severe class imbalance (&lt;5%), produce wildly inflated probabilities (up to 38%), and act as opaque black boxes that doctors reject.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NeuroPulse Solution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A 5-Stage framework on the Kaggle cohort (N=5,110) combining 19.54:1 cost-sensitive CatBoost, Platt calibration (75.6% Brier drop), and TreeSHAP mechanistic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CHALLENGES &amp;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The Triad of Clinical AI Failure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30175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Extreme Minority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In real screening populations (and the Kaggle cohort), positive stroke prevalence is under 5% (4.87%, 19.54:1 ratio).</a:t>
            </a:r>
            <a:br/>
            <a:br/>
            <a:r>
              <a:t>• Unweighted algorithms collapse toward majority voting: achieving 95% accuracy while missing 100% of life-threatening events.</a:t>
            </a:r>
            <a:br/>
            <a:r>
              <a:t>• Synthetic oversampling (SMOTE) distorts real patient biological manifolds in mixed tabular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0175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Distorted Probability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When models apply loss reweighting to force sensitivity, output probabilities become severely shifted positive.</a:t>
            </a:r>
            <a:br/>
            <a:br/>
            <a:r>
              <a:t>• A patient with an actual 5% biological risk receives an uncalibrated raw score of 38.74%.</a:t>
            </a:r>
            <a:br/>
            <a:r>
              <a:t>• This triggers inappropriate clinical alarm, overtreatment, and expensive invasive angiography.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80" y="1691640"/>
            <a:ext cx="30175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Black-Box Inscrutability &amp; Opacity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Deep learning and standard ensembles conceal their internal decision boundaries.</a:t>
            </a:r>
            <a:br/>
            <a:br/>
            <a:r>
              <a:t>• Attending physicians cannot verify whether a high score is driven by legitimate vascular pathology or dataset artifacts.</a:t>
            </a:r>
            <a:br/>
            <a:r>
              <a:t>• Complete lack of bedside counterfactual guidance leaves clinicians without clear therapeutic levers.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Purpose: Calibrated, Multi-Pillar Clinical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End-to-End 5-Stage Machine Learning Pipeline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Trained and validated on the public Kaggle Healthcare Stroke Dataset (N = 5,110 patients), resolving all three core barriers:</a:t>
            </a:r>
            <a:br/>
            <a:br/>
            <a:r>
              <a:t>1. Preprocessing: Leakage-free train-median imputation (28.1 kg/m²).</a:t>
            </a:r>
            <a:br/>
            <a:r>
              <a:t>2. Cost-Sensitive CatBoost: 19.54:1 inverse class weighting capturing 84% acute sensitivity (42/50 strokes).</a:t>
            </a:r>
            <a:br/>
            <a:r>
              <a:t>3. Out-of-Fold Platt Calibration: Reduces Brier score by 75.6% (0.0416), matching true population prevalence (4.87%).</a:t>
            </a:r>
            <a:br/>
            <a:r>
              <a:t>4. TreeSHAP Interpretability: Explains global drivers and local patient waterfalls.</a:t>
            </a:r>
            <a:br/>
            <a:r>
              <a:t>5. Clinical Verification: Fairness audit and Decision Curve Net Benefit.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Tri-Pillar Bedside Clinical Scope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Pillar 1: 10-Year Long-Term Stroke Risk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Predicts Platt-calibrated biological probability &amp; risk tier (Low, Moderate, High, Critical) based on patient vitals and vascular biomarkers.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Pillar 2: Acute Neurological Severity (NIHSS)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Calculates bedside NIHSS score (0–42) from presenting acute neurological deficits (facial palsy, motor drift, aphasia, consciousness).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Pillar 3: Reperfusion Prognosis (mRS &lt;= 2)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Estimates 90-day functional recovery conditioned on emergency interventions (IV tPA thrombolysis, Endovascular Thrombectomy).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SCIENTIFIC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Domain Keywords &amp; Theoretical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Explainable AI (XAI)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Algorithmic methods ensuring model outputs can be audited and pathophysiologically verified by clinicians.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7276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TreeSHAP (Shapley Values)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Game-theoretic additive feature decomposition satisfying local accuracy, missingness, and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Platt Sigmoid Scaling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Post-hoc out-of-fold logistic calibration mapping raw model logits into empirical posterior probabilities.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5176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76148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Brier Score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Strictly proper scoring rule measuring both discrimination and calibration loss: (1/N) * sum((P - Y)^2).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Cost-Sensitive Learning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Reweighting classification loss inversely to class priors (19.54:1) to heavily penalize false negatives.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020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Decision Curve Analysis (DCA)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Quantifies clinical Net Benefit across decision thresholds, proving clinical utility over treat-all/treat-none.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Algorithmic Subgroup Fairness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Stratified demographic audits across Age, Sex, and Hypertension to detect disparate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0292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1389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NIHSS &amp; mRS Scores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National Institutes of Health Stroke Scale (acute deficit: 0–42) and modified Rankin Scale (90-day recovery: 0–6).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Complete Technology Stack &amp; Architectural Toolkit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Machine Learning &amp; Modeling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CatBoost (Oblivious Trees, Ordered Target Encoding)</a:t>
            </a:r>
            <a:br/>
            <a:r>
              <a:t>• Scikit-Learn (Logistic Regression, Random Forest)</a:t>
            </a:r>
            <a:br/>
            <a:r>
              <a:t>• XGBoost (Cost-Sensitive Boosting)</a:t>
            </a:r>
            <a:br/>
            <a:r>
              <a:t>• NumPy &amp; Pandas (Data pipelines &amp; Imputation)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Explainability &amp; Validation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TreeSHAP (Local waterfall &amp; global rankings)</a:t>
            </a:r>
            <a:br/>
            <a:r>
              <a:t>• Platt Scaling (CalibratedClassifierCV 5-fold)</a:t>
            </a:r>
            <a:br/>
            <a:r>
              <a:t>• Brier Score Metric Evaluation</a:t>
            </a:r>
            <a:br/>
            <a:r>
              <a:t>• Decision Curve Analysis (Vickers Net Benefit)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Backend API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Python 3.14 Runtime</a:t>
            </a:r>
            <a:br/>
            <a:r>
              <a:t>• FastAPI (High-performance async REST API)</a:t>
            </a:r>
            <a:br/>
            <a:r>
              <a:t>• Uvicorn ASGI Server</a:t>
            </a:r>
            <a:br/>
            <a:r>
              <a:t>• Modular routers: prediction, cohort, benchmarks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Frontend &amp; UX Interface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Modern Glassmorphic CSS3 Design System</a:t>
            </a:r>
            <a:br/>
            <a:r>
              <a:t>• Vanilla JavaScript (Ultra-responsive)</a:t>
            </a:r>
            <a:br/>
            <a:r>
              <a:t>• Chart.js (Real-time dynamic visualizations)</a:t>
            </a:r>
            <a:br/>
            <a:r>
              <a:t>• HTML5 Print Engine (Clinical Audit PDF Export)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Tab 1: Tri-Pillar Clinical Assessment &amp; Certified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Features &amp; Bedside Capabilities: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Tri-Pillar Input Panel:</a:t>
            </a:r>
            <a:br/>
            <a:r>
              <a:t>   - Pillar 1: Long-term vascular vitals &amp; lifestyle factors.</a:t>
            </a:r>
            <a:br/>
            <a:r>
              <a:t>   - Pillar 2: Acute neurological deficit scoring (NIHSS 0–42).</a:t>
            </a:r>
            <a:br/>
            <a:r>
              <a:t>   - Pillar 3: Reperfusion intervention toggles (IV tPA / EVT).</a:t>
            </a:r>
            <a:br/>
            <a:br/>
            <a:r>
              <a:t>• Live Diagnostic Cards: Instant Platt-calibrated probability gauge, emergency triage badge, and 90-day recovery likelihood.</a:t>
            </a:r>
            <a:br/>
            <a:br/>
            <a:r>
              <a:t>• Certified 1-Page Clinical Audit: Opens an accredited audit modal with full vitals, predictions, SHAP attribution bars, and attending clinician sign-off line for EHR integration.</a:t>
            </a:r>
          </a:p>
        </p:txBody>
      </p:sp>
      <p:pic>
        <p:nvPicPr>
          <p:cNvPr id="6" name="Picture 5" descr="after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Tab 2: Interactive Counterfactual 'What-If'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Actionable Preventative Simulation: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The Need: Simply telling a patient they are at high risk causes fear; doctors need actionable levers to simulate therapeutic benefits.</a:t>
            </a:r>
            <a:br/>
            <a:br/>
            <a:r>
              <a:t>• Dynamic Re-scoring Engine:</a:t>
            </a:r>
            <a:br/>
            <a:r>
              <a:t>   - Blood Pressure Intervention: Lowering SBP to &lt;130 mmHg projects absolute risk drops of 4.5% to 8.2%.</a:t>
            </a:r>
            <a:br/>
            <a:r>
              <a:t>   - Glycemic Optimization: Normalizing glucose (&lt;100 mg/dL) yields 2.1% to 4.8% risk reduction.</a:t>
            </a:r>
            <a:br/>
            <a:r>
              <a:t>   - Smoking Cessation: Models endothelial recovery, stripping away the tobacco hazard.</a:t>
            </a:r>
            <a:br/>
            <a:br/>
            <a:r>
              <a:t>• Real-time delta cards display exact numerical reduction in stroke likelihood.</a:t>
            </a:r>
          </a:p>
        </p:txBody>
      </p:sp>
      <p:pic>
        <p:nvPicPr>
          <p:cNvPr id="6" name="Picture 5" descr="after_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Tab 3: SHAP Studio — Mechanistic Model Transparency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Global &amp; Local Explainability: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Global Feature Hierarchy across Kaggle Cohort:</a:t>
            </a:r>
            <a:br/>
            <a:r>
              <a:t>   1. Age (|phi| = 1.3975) — Primary vascular determinant</a:t>
            </a:r>
            <a:br/>
            <a:r>
              <a:t>   2. BMI (|phi| = 0.2056) — Metabolic adiposity</a:t>
            </a:r>
            <a:br/>
            <a:r>
              <a:t>   3. Glucose (|phi| = 0.0921) — Microvascular damage</a:t>
            </a:r>
            <a:br/>
            <a:r>
              <a:t>   4. Hypertension (|phi| = 0.0806) — Wall shear stress</a:t>
            </a:r>
            <a:br/>
            <a:r>
              <a:t>   5. Smoking (|phi| = 0.0373) — Oxidant toxicity</a:t>
            </a:r>
            <a:br/>
            <a:br/>
            <a:r>
              <a:t>• Patient Waterfall Decomposition: Deconstructs an individual's logit score starting from base rate (phi_0) into positive pushes (red) and negative protections (blue).</a:t>
            </a:r>
            <a:br/>
            <a:br/>
            <a:r>
              <a:t>• Age x Glucose Synergy: High glucose produces 5.75x higher stroke log-odds in patients &gt;65 vs &lt;45.</a:t>
            </a:r>
          </a:p>
        </p:txBody>
      </p:sp>
      <p:pic>
        <p:nvPicPr>
          <p:cNvPr id="6" name="Picture 5" descr="after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Tab 4: Comparative Benchmarks on Kaggle Test Set (N=1,022)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Why CatBoost Outperforms Baselines: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Highest Minority Recall (84.00%):</a:t>
            </a:r>
            <a:br/>
            <a:r>
              <a:t>   CatBoost detected 42 out of 50 positive strokes in the test cohort, outperforming Random Forest (76.0%) and XGBoost (60.0%).</a:t>
            </a:r>
            <a:br/>
            <a:br/>
            <a:r>
              <a:t>• 5.77x PR-AUC Enrichment (0.2812):</a:t>
            </a:r>
            <a:br/>
            <a:r>
              <a:t>   In extreme imbalance (4.87%), PR-AUC is far more informative than ROC-AUC. CatBoost dramatically outperforms XGBoost (0.1683).</a:t>
            </a:r>
            <a:br/>
            <a:br/>
            <a:r>
              <a:t>• Lowest Calibration Loss (Brier = 0.0416):</a:t>
            </a:r>
            <a:br/>
            <a:r>
              <a:t>   While uncalibrated baselines had Brier scores of 0.17 to 0.18, CatBoost with Platt scaling achieved 0.0416.</a:t>
            </a:r>
          </a:p>
        </p:txBody>
      </p:sp>
      <p:pic>
        <p:nvPicPr>
          <p:cNvPr id="6" name="Picture 5" descr="after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Tab 5: Kaggle 5-Stage Audit &amp; Methodological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Rigorous Multi-Dimensional Audit: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Complete Methodological Transparency:</a:t>
            </a:r>
            <a:br/>
            <a:r>
              <a:t>   Displays full mathematical specifications and hyperparameters for all 5 stages directly in the UI.</a:t>
            </a:r>
            <a:br/>
            <a:br/>
            <a:r>
              <a:t>• Demographic Subgroup Fairness Audit:</a:t>
            </a:r>
            <a:br/>
            <a:r>
              <a:t>   - Biological Sex: Complete parity (0.8389 Male vs 0.8403 Female).</a:t>
            </a:r>
            <a:br/>
            <a:r>
              <a:t>   - Age Window: Peak clinical discrimination in the preventative 55–70 yr bracket (0.7387 AUC).</a:t>
            </a:r>
            <a:br/>
            <a:br/>
            <a:r>
              <a:t>• Decision Curve Analysis (DCA):</a:t>
            </a:r>
            <a:br/>
            <a:r>
              <a:t>   Confirms positive Net Benefit (+0.0185 at 10% threshold) where 'treat-all' policy causes net harm (-0.0568).</a:t>
            </a:r>
          </a:p>
        </p:txBody>
      </p:sp>
      <p:pic>
        <p:nvPicPr>
          <p:cNvPr id="6" name="Picture 5" descr="after_kag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Tab 6: Institutional Cohort Batch Screening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Population-Scale Clinical Triage: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High-Throughput Processing:</a:t>
            </a:r>
            <a:br/>
            <a:r>
              <a:t>   Clinicians and hospital administrators can upload multi-patient CSV files for immediate batch screening.</a:t>
            </a:r>
            <a:br/>
            <a:br/>
            <a:r>
              <a:t>• Automated Risk Stratification:</a:t>
            </a:r>
            <a:br/>
            <a:r>
              <a:t>   Instantly categorizes populations into Low, Moderate, High, and Critical risk tiers with visual distribution charts.</a:t>
            </a:r>
            <a:br/>
            <a:br/>
            <a:r>
              <a:t>• Primary Driver Identification:</a:t>
            </a:r>
            <a:br/>
            <a:r>
              <a:t>   Aggregates SHAP values across the entire batch to show dominant population-level risk factors (e.g., uncontrolled hypertension or untreated hyperglycemia).</a:t>
            </a:r>
          </a:p>
        </p:txBody>
      </p:sp>
      <p:pic>
        <p:nvPicPr>
          <p:cNvPr id="6" name="Picture 5" descr="after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CLINICAL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Clinical Effectiveness: Real-World Utility &amp; Bedside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Acute Patient Safety</a:t>
            </a:r>
          </a:p>
          <a:p>
            <a:pPr>
              <a:spcBef>
                <a:spcPts val="800"/>
              </a:spcBef>
              <a:defRPr sz="1300" b="1">
                <a:solidFill>
                  <a:srgbClr val="EF4444"/>
                </a:solidFill>
              </a:defRPr>
            </a:pPr>
            <a:r>
              <a:t>84.00% Minority Sensitivity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Detects 42 out of 50 acute strokes, preventing catastrophic missed cases and permanent neurological disability.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Epidemiological Honesty</a:t>
            </a:r>
          </a:p>
          <a:p>
            <a:pPr>
              <a:spcBef>
                <a:spcPts val="800"/>
              </a:spcBef>
              <a:defRPr sz="1300" b="1">
                <a:solidFill>
                  <a:srgbClr val="0D9488"/>
                </a:solidFill>
              </a:defRPr>
            </a:pPr>
            <a:r>
              <a:t>75.6% Brier Score Reduction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Platt scaling aligns predicted risk (4.92%) with actual population prevalence (4.87%), eliminating false alarms.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Actionable Prevention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Counterfactual Risk Delving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Empowers doctors with simulated targets (BP, glucose) to counsel patients on quantifiable risk reductions.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Clinical Workflow Ready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Single-Page Certified Audit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Direct print/PDF report with vitals, SHAP bars, and clinician sign-off enables immediate EHR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LIMITATIONS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Methodological Limitations &amp; Future Research Horizons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Current Limitations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1. Age-Bracket Sample Disparity:</a:t>
            </a:r>
            <a:br/>
            <a:r>
              <a:t>   Low event density in patients &lt;55 yrs (1.20%, 0.6278 AUC) and high baseline saturation in patients &gt;70 yrs (22.79%, 0.5628 AUC) limits automated triage in these tiers.</a:t>
            </a:r>
            <a:br/>
            <a:br/>
            <a:r>
              <a:t>2. Absence of Acute Neuroimaging Data:</a:t>
            </a:r>
            <a:br/>
            <a:r>
              <a:t>   Current pipeline relies exclusively on tabular clinical features; non-contrast CT (NCCT) and MRI DWI scans are not yet incorporated.</a:t>
            </a:r>
            <a:br/>
            <a:br/>
            <a:r>
              <a:t>3. Academic Research Prototype Status:</a:t>
            </a:r>
            <a:br/>
            <a:r>
              <a:t>   Designed as an assistive decision-support tool; not FDA/CE cleared for standalone diagnostic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Future Research Roadmap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1. Multimodal Neuroimaging Fusion:</a:t>
            </a:r>
            <a:br/>
            <a:r>
              <a:t>   Integrate Vision Transformers (ViT) on brain CT/MRI imaging combined with tabular clinical features via cross-attention mechanisms.</a:t>
            </a:r>
            <a:br/>
            <a:br/>
            <a:r>
              <a:t>2. Hospital EHR Connectivity (HL7 FHIR):</a:t>
            </a:r>
            <a:br/>
            <a:r>
              <a:t>   Build bidirectional connectors to stream real-time patient vitals directly from hospital databases.</a:t>
            </a:r>
            <a:br/>
            <a:br/>
            <a:r>
              <a:t>3. Prospective Multi-Center Clinical Validation:</a:t>
            </a:r>
            <a:br/>
            <a:r>
              <a:t>   Validate the calibrated framework across diverse international healthcare networks to ensure robust demographic generalizability.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1800">
                <a:solidFill>
                  <a:srgbClr val="06B6D4"/>
                </a:solidFill>
              </a:defRPr>
            </a:pPr>
            <a:r>
              <a:t>NeuroPulse XAI: Bridging the Gap from Opaque Algorithms to Trustworthy Bedside Clinical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474720"/>
            <a:ext cx="813816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Author: Tanishka Mudgal (RA2311003011560)</a:t>
            </a:r>
          </a:p>
          <a:p>
            <a:pPr algn="ctr"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Department of Computing Technologies | SRM Institute of Science and Technology</a:t>
            </a:r>
          </a:p>
          <a:p>
            <a:pPr algn="ctr">
              <a:spcBef>
                <a:spcPts val="600"/>
              </a:spcBef>
              <a:defRPr sz="1200">
                <a:solidFill>
                  <a:srgbClr val="06B6D4"/>
                </a:solidFill>
              </a:defRPr>
            </a:pPr>
            <a:r>
              <a:t>GitHub: https://github.com/Tanishka-2004/stroke-xai-framework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