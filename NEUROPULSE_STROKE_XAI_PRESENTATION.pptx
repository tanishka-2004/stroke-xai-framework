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005840"/>
            <a:ext cx="41148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SMART HEALTHCARE AI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600" b="1">
                <a:solidFill>
                  <a:srgbClr val="FFFFFF"/>
                </a:solidFill>
              </a:defRPr>
            </a:pPr>
            <a:r>
              <a:t>NeuroPulse XAI</a:t>
            </a:r>
          </a:p>
          <a:p>
            <a:pPr>
              <a:spcBef>
                <a:spcPts val="1000"/>
              </a:spcBef>
              <a:defRPr sz="1800">
                <a:solidFill>
                  <a:srgbClr val="CBD5E1"/>
                </a:solidFill>
              </a:defRPr>
            </a:pPr>
            <a:r>
              <a:t>A Smart, Trustworthy AI Tool for Stroke Risk Prediction, Severity Check, and Recovery Odds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297680"/>
            <a:ext cx="10515600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434840"/>
            <a:ext cx="99669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Project By: Tanishka Mudgal (Reg. No: RA2311003011560)</a:t>
            </a:r>
          </a:p>
          <a:p>
            <a:pPr>
              <a:spcBef>
                <a:spcPts val="400"/>
              </a:spcBef>
              <a:defRPr sz="1300">
                <a:solidFill>
                  <a:srgbClr val="06B6D4"/>
                </a:solidFill>
              </a:defRPr>
            </a:pPr>
            <a:r>
              <a:t>Department of Computing Technologies | SRM Institute of Science and Technology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Goal: Helping doctors spot stroke dangers early with honest odds and clear explanations they can actually trust.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SIMPLE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The Big Picture: Why Did We Build This?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747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3474720" cy="10972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172A"/>
                </a:solidFill>
              </a:defRPr>
            </a:pPr>
            <a:r>
              <a:t>1. The Medical Danger</a:t>
            </a:r>
          </a:p>
          <a:p>
            <a:pPr>
              <a:spcBef>
                <a:spcPts val="1400"/>
              </a:spcBef>
              <a:defRPr sz="1300">
                <a:solidFill>
                  <a:srgbClr val="475569"/>
                </a:solidFill>
              </a:defRPr>
            </a:pPr>
            <a:r>
              <a:t>Stroke is the #2 killer in the world. When a blood clot blocks blood to the brain, about 2 million brain cells die every minute!</a:t>
            </a:r>
            <a:br/>
            <a:br/>
            <a:r>
              <a:t>If doctors can catch the danger signs early, strokes can be prevented before permanent damage happens.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63040"/>
            <a:ext cx="34747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463040"/>
            <a:ext cx="3474720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82880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172A"/>
                </a:solidFill>
              </a:defRPr>
            </a:pPr>
            <a:r>
              <a:t>2. Why Old Methods Fail</a:t>
            </a:r>
          </a:p>
          <a:p>
            <a:pPr>
              <a:spcBef>
                <a:spcPts val="1400"/>
              </a:spcBef>
              <a:defRPr sz="1300">
                <a:solidFill>
                  <a:srgbClr val="475569"/>
                </a:solidFill>
              </a:defRPr>
            </a:pPr>
            <a:r>
              <a:t>Doctors today still use basic point-based charts on paper. These simple charts add up numbers one by one, so they completely miss combined dangers — like how high blood pressure becomes 5x more dangerous when mixed with high blood sugar in older people.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463040"/>
            <a:ext cx="34747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0" y="1463040"/>
            <a:ext cx="3474720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82880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172A"/>
                </a:solidFill>
              </a:defRPr>
            </a:pPr>
            <a:r>
              <a:t>3. Why Regular AI Fails</a:t>
            </a:r>
          </a:p>
          <a:p>
            <a:pPr>
              <a:spcBef>
                <a:spcPts val="1400"/>
              </a:spcBef>
              <a:defRPr sz="1300">
                <a:solidFill>
                  <a:srgbClr val="475569"/>
                </a:solidFill>
              </a:defRPr>
            </a:pPr>
            <a:r>
              <a:t>Normal AI models either:</a:t>
            </a:r>
            <a:br/>
            <a:r>
              <a:t>• Miss the real stroke patients completely because strokes are rare.</a:t>
            </a:r>
            <a:br/>
            <a:r>
              <a:t>• Exaggerate and give scary, fake high numbers.</a:t>
            </a:r>
            <a:br/>
            <a:r>
              <a:t>• Refuse to explain their answers, so doctors can't trust them.</a:t>
            </a:r>
            <a:br/>
            <a:br/>
            <a:r>
              <a:t>We solved all three problems!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WHAT WAS BROKEN?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The Problem Statement: 3 Big Roadblocks in Stroke AI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747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60120" y="1691640"/>
            <a:ext cx="3017520" cy="50292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Problem 1: Strokes Are Rare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2926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50">
                <a:solidFill>
                  <a:srgbClr val="0F172A"/>
                </a:solidFill>
              </a:defRPr>
            </a:pPr>
            <a:r>
              <a:t>Out of 100 people screened, less than 5 have had a stroke (under 5% prevalence).</a:t>
            </a:r>
            <a:br/>
            <a:br/>
            <a:r>
              <a:t>• If a computer program simply guesses 'No Stroke' for every single person, it looks 95% accurate on paper!</a:t>
            </a:r>
            <a:br/>
            <a:r>
              <a:t>• But in reality, it missed 100% of the sick people who needed urgent medical care.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63040"/>
            <a:ext cx="34747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0" y="1691640"/>
            <a:ext cx="3017520" cy="50292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Problem 2: Exaggerated Odds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377440"/>
            <a:ext cx="2926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50">
                <a:solidFill>
                  <a:srgbClr val="0F172A"/>
                </a:solidFill>
              </a:defRPr>
            </a:pPr>
            <a:r>
              <a:t>To force the computer to find strokes, programmers make it panic. But this breaks the numbers!</a:t>
            </a:r>
            <a:br/>
            <a:br/>
            <a:r>
              <a:t>• A patient whose real risk is only 5% gets told by the AI: 'You have a 40% chance of stroke!'</a:t>
            </a:r>
            <a:br/>
            <a:r>
              <a:t>• This terrifies healthy patients and sends them for expensive, painful hospital tests they never needed.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463040"/>
            <a:ext cx="34747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83880" y="1691640"/>
            <a:ext cx="3017520" cy="5029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Problem 3: The 'Black Box'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377440"/>
            <a:ext cx="2926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50">
                <a:solidFill>
                  <a:srgbClr val="0F172A"/>
                </a:solidFill>
              </a:defRPr>
            </a:pPr>
            <a:r>
              <a:t>Most AI tools give a score but won't explain why.</a:t>
            </a:r>
            <a:br/>
            <a:br/>
            <a:r>
              <a:t>• A doctor asks: 'Why did you say 35%? Is it their blood pressure, weight, or age?'</a:t>
            </a:r>
            <a:br/>
            <a:r>
              <a:t>• The AI can't answer. No doctor will risk a human life on computer advice they cannot understand.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What Does Our System Do? (The Solution)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9164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D9488"/>
                </a:solidFill>
              </a:defRPr>
            </a:pPr>
            <a:r>
              <a:t>A 5-Stage Smart Pipeline</a:t>
            </a:r>
          </a:p>
          <a:p>
            <a:pPr>
              <a:spcBef>
                <a:spcPts val="800"/>
              </a:spcBef>
              <a:defRPr sz="1250">
                <a:solidFill>
                  <a:srgbClr val="0F172A"/>
                </a:solidFill>
              </a:defRPr>
            </a:pPr>
            <a:r>
              <a:t>Tested on 5,110 real hospital patient records from Kaggle, doing 5 simple things:</a:t>
            </a:r>
            <a:br/>
            <a:br/>
            <a:r>
              <a:t>1. Clean Data: Fills in missing health values cleanly without peeking at the test set.</a:t>
            </a:r>
            <a:br/>
            <a:r>
              <a:t>2. Fair Training: Punishes the AI heavily whenever it misses a stroke, teaching it not to ignore rare cases.</a:t>
            </a:r>
            <a:br/>
            <a:r>
              <a:t>3. Honest Percentages: Automatically recalibrates probabilities so 5% really means 5%, not 40%.</a:t>
            </a:r>
            <a:br/>
            <a:r>
              <a:t>4. Full Explanations: Breaks down every single factor pushing a patient's risk up or down.</a:t>
            </a:r>
            <a:br/>
            <a:r>
              <a:t>5. Quality Check: Double-checks that the model is fair to men, women, young, and old alike.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9164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563EB"/>
                </a:solidFill>
              </a:defRPr>
            </a:pPr>
            <a:r>
              <a:t>3 Clinical Predictions in One Place</a:t>
            </a:r>
          </a:p>
          <a:p>
            <a:pPr>
              <a:spcBef>
                <a:spcPts val="1000"/>
              </a:spcBef>
              <a:defRPr sz="1350" b="1">
                <a:solidFill>
                  <a:srgbClr val="0F172A"/>
                </a:solidFill>
              </a:defRPr>
            </a:pPr>
            <a:r>
              <a:t>1. Long-Term Stroke Risk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Tells the patient their honest 10-year stroke chance (Low, Moderate, High, or Critical) based on their body vitals.</a:t>
            </a:r>
          </a:p>
          <a:p>
            <a:pPr>
              <a:spcBef>
                <a:spcPts val="1000"/>
              </a:spcBef>
              <a:defRPr sz="1350" b="1">
                <a:solidFill>
                  <a:srgbClr val="0F172A"/>
                </a:solidFill>
              </a:defRPr>
            </a:pPr>
            <a:r>
              <a:t>2. Acute Stroke Severity (NIHSS)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If an emergency happens right now, it scores their symptoms (face drooping, arm weakness, speech trouble) on a scale of 0 to 42.</a:t>
            </a:r>
          </a:p>
          <a:p>
            <a:pPr>
              <a:spcBef>
                <a:spcPts val="1000"/>
              </a:spcBef>
              <a:defRPr sz="1350" b="1">
                <a:solidFill>
                  <a:srgbClr val="0F172A"/>
                </a:solidFill>
              </a:defRPr>
            </a:pPr>
            <a:r>
              <a:t>3. 90-Day Recovery Odds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Predicts if the patient will walk and live normally after 3 months if given clot-busting medicine or surgery.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NO FANCY JARGON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Key Concepts Explained in Plain English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72768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D9488"/>
                </a:solidFill>
              </a:defRPr>
            </a:pPr>
            <a:r>
              <a:t>Explainable AI (XAI)</a:t>
            </a:r>
          </a:p>
          <a:p>
            <a:pPr>
              <a:spcBef>
                <a:spcPts val="200"/>
              </a:spcBef>
              <a:defRPr sz="1150">
                <a:solidFill>
                  <a:srgbClr val="0F172A"/>
                </a:solidFill>
              </a:defRPr>
            </a:pPr>
            <a:r>
              <a:t>AI that shows its work and gives reasons for its answers, so doctors can double-check everything.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463040"/>
            <a:ext cx="52120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572768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D9488"/>
                </a:solidFill>
              </a:defRPr>
            </a:pPr>
            <a:r>
              <a:t>SHAP (The Explainer)</a:t>
            </a:r>
          </a:p>
          <a:p>
            <a:pPr>
              <a:spcBef>
                <a:spcPts val="200"/>
              </a:spcBef>
              <a:defRPr sz="1150">
                <a:solidFill>
                  <a:srgbClr val="0F172A"/>
                </a:solidFill>
              </a:defRPr>
            </a:pPr>
            <a:r>
              <a:t>A method that gives credit to each body feature (like age or smoking) for pushing the risk up or down.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51760"/>
            <a:ext cx="52120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761488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D9488"/>
                </a:solidFill>
              </a:defRPr>
            </a:pPr>
            <a:r>
              <a:t>Calibration (Honest Odds)</a:t>
            </a:r>
          </a:p>
          <a:p>
            <a:pPr>
              <a:spcBef>
                <a:spcPts val="200"/>
              </a:spcBef>
              <a:defRPr sz="1150">
                <a:solidFill>
                  <a:srgbClr val="0F172A"/>
                </a:solidFill>
              </a:defRPr>
            </a:pPr>
            <a:r>
              <a:t>Fixing the AI so its percentages are real: if it says 5% risk, 5 out of 100 people actually have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651760"/>
            <a:ext cx="52120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761488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D9488"/>
                </a:solidFill>
              </a:defRPr>
            </a:pPr>
            <a:r>
              <a:t>Brier Score (Error Meter)</a:t>
            </a:r>
          </a:p>
          <a:p>
            <a:pPr>
              <a:spcBef>
                <a:spcPts val="200"/>
              </a:spcBef>
              <a:defRPr sz="1150">
                <a:solidFill>
                  <a:srgbClr val="0F172A"/>
                </a:solidFill>
              </a:defRPr>
            </a:pPr>
            <a:r>
              <a:t>A scoreboard for how honest the AI's percentages are. Lower score = much more honest and accurate.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52120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50208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D9488"/>
                </a:solidFill>
              </a:defRPr>
            </a:pPr>
            <a:r>
              <a:t>Class Imbalance</a:t>
            </a:r>
          </a:p>
          <a:p>
            <a:pPr>
              <a:spcBef>
                <a:spcPts val="200"/>
              </a:spcBef>
              <a:defRPr sz="1150">
                <a:solidFill>
                  <a:srgbClr val="0F172A"/>
                </a:solidFill>
              </a:defRPr>
            </a:pPr>
            <a:r>
              <a:t>When the sick cases are rare (only 5 in 100). The AI needs special rules so it doesn't ignore them.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840480"/>
            <a:ext cx="52120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3950208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D9488"/>
                </a:solidFill>
              </a:defRPr>
            </a:pPr>
            <a:r>
              <a:t>What-If (Counterfactual)</a:t>
            </a:r>
          </a:p>
          <a:p>
            <a:pPr>
              <a:spcBef>
                <a:spcPts val="200"/>
              </a:spcBef>
              <a:defRPr sz="1150">
                <a:solidFill>
                  <a:srgbClr val="0F172A"/>
                </a:solidFill>
              </a:defRPr>
            </a:pPr>
            <a:r>
              <a:t>Testing: 'What if this patient drops their blood pressure by 20 points? How much safer will they be?'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9200"/>
            <a:ext cx="52120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138928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D9488"/>
                </a:solidFill>
              </a:defRPr>
            </a:pPr>
            <a:r>
              <a:t>Decision Curve (Net Benefit)</a:t>
            </a:r>
          </a:p>
          <a:p>
            <a:pPr>
              <a:spcBef>
                <a:spcPts val="200"/>
              </a:spcBef>
              <a:defRPr sz="1150">
                <a:solidFill>
                  <a:srgbClr val="0F172A"/>
                </a:solidFill>
              </a:defRPr>
            </a:pPr>
            <a:r>
              <a:t>Mathematical proof that using this tool helps more patients than treating everyone or doing nothing.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5029200"/>
            <a:ext cx="52120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5138928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D9488"/>
                </a:solidFill>
              </a:defRPr>
            </a:pPr>
            <a:r>
              <a:t>NIHSS &amp; Recovery Score</a:t>
            </a:r>
          </a:p>
          <a:p>
            <a:pPr>
              <a:spcBef>
                <a:spcPts val="200"/>
              </a:spcBef>
              <a:defRPr sz="1150">
                <a:solidFill>
                  <a:srgbClr val="0F172A"/>
                </a:solidFill>
              </a:defRPr>
            </a:pPr>
            <a:r>
              <a:t>Standard medical checklists doctors use to measure stroke damage and 3-month recovery.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UNDER THE HOOD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What Tech Did We Use to Build This?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560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2560320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Machine Learning Core</a:t>
            </a:r>
          </a:p>
          <a:p>
            <a:pPr>
              <a:spcBef>
                <a:spcPts val="1200"/>
              </a:spcBef>
              <a:defRPr sz="1200">
                <a:solidFill>
                  <a:srgbClr val="475569"/>
                </a:solidFill>
              </a:defRPr>
            </a:pPr>
            <a:r>
              <a:t>• CatBoost: A top-tier decision tree model that excels with medical tables.</a:t>
            </a:r>
            <a:br/>
            <a:r>
              <a:t>• Scikit-Learn: Used for baseline models and cross-validation.</a:t>
            </a:r>
            <a:br/>
            <a:r>
              <a:t>• XGBoost &amp; Random Forest: Used to benchmark and compare.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463040"/>
            <a:ext cx="2560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29000" y="1463040"/>
            <a:ext cx="2560320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73736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Explainability &amp; Math</a:t>
            </a:r>
          </a:p>
          <a:p>
            <a:pPr>
              <a:spcBef>
                <a:spcPts val="1200"/>
              </a:spcBef>
              <a:defRPr sz="1200">
                <a:solidFill>
                  <a:srgbClr val="475569"/>
                </a:solidFill>
              </a:defRPr>
            </a:pPr>
            <a:r>
              <a:t>• TreeSHAP: Breaks open the AI to show green/red risk factors.</a:t>
            </a:r>
            <a:br/>
            <a:r>
              <a:t>• Platt Scaling: Mathematical formula to fix inflated probabilities.</a:t>
            </a:r>
            <a:br/>
            <a:r>
              <a:t>• Decision Curve Analysis: Proves real clinical benefit.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463040"/>
            <a:ext cx="2560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463040"/>
            <a:ext cx="2560320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73736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Backend Web Server</a:t>
            </a:r>
          </a:p>
          <a:p>
            <a:pPr>
              <a:spcBef>
                <a:spcPts val="1200"/>
              </a:spcBef>
              <a:defRPr sz="1200">
                <a:solidFill>
                  <a:srgbClr val="475569"/>
                </a:solidFill>
              </a:defRPr>
            </a:pPr>
            <a:r>
              <a:t>• Python 3.14: Fast, modern execution.</a:t>
            </a:r>
            <a:br/>
            <a:r>
              <a:t>• FastAPI: Lightning-fast web engine to handle patient data in milliseconds.</a:t>
            </a:r>
            <a:br/>
            <a:r>
              <a:t>• Uvicorn: Server hosting the live application.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60" y="1463040"/>
            <a:ext cx="2560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823960" y="1463040"/>
            <a:ext cx="2560320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40" y="173736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User Interface &amp; Design</a:t>
            </a:r>
          </a:p>
          <a:p>
            <a:pPr>
              <a:spcBef>
                <a:spcPts val="1200"/>
              </a:spcBef>
              <a:defRPr sz="1200">
                <a:solidFill>
                  <a:srgbClr val="475569"/>
                </a:solidFill>
              </a:defRPr>
            </a:pPr>
            <a:r>
              <a:t>• Clean HTML &amp; CSS: Modern, beautiful interface that doctors love.</a:t>
            </a:r>
            <a:br/>
            <a:r>
              <a:t>• JavaScript: Dynamic instant updates without page refreshing.</a:t>
            </a:r>
            <a:br/>
            <a:r>
              <a:t>• Chart.js: Interactive risk charts.</a:t>
            </a:r>
            <a:br/>
            <a:r>
              <a:t>• PDF Engine: 1-click printable doctor reports.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WHAT EACH TAB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Tab 1: Patient Checkup &amp; Printable Doctor Report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9377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D9488"/>
                </a:solidFill>
              </a:defRPr>
            </a:pPr>
            <a:r>
              <a:t>What Happens in Tab 1: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• Easy Patient Entry:</a:t>
            </a:r>
            <a:br/>
            <a:r>
              <a:t>   Enter simple details: age, blood pressure, sugar, smoking status, and current symptoms.</a:t>
            </a:r>
            <a:br/>
            <a:br/>
            <a:r>
              <a:t>• Instant Results Cards:</a:t>
            </a:r>
            <a:br/>
            <a:r>
              <a:t>   - Dial gauge showing honest 10-year stroke risk %.</a:t>
            </a:r>
            <a:br/>
            <a:r>
              <a:t>   - Acute emergency score (NIHSS 0–42).</a:t>
            </a:r>
            <a:br/>
            <a:r>
              <a:t>   - Likelihood of walking/recovering in 3 months.</a:t>
            </a:r>
            <a:br/>
            <a:br/>
            <a:r>
              <a:t>• 1-Click Printable Medical Report:</a:t>
            </a:r>
            <a:br/>
            <a:r>
              <a:t>   Clicking 'Clinical Audit Report' pops up a clean 1-page summary with all vitals, risk bars, and a doctor signature line ready for paper medical files!</a:t>
            </a:r>
          </a:p>
        </p:txBody>
      </p:sp>
      <p:pic>
        <p:nvPicPr>
          <p:cNvPr id="6" name="Picture 5" descr="after_assess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63040"/>
            <a:ext cx="548640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WHAT EACH TAB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Tab 2: 'What-If' Simulator — Actionable Health Goals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9377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</a:defRPr>
            </a:pPr>
            <a:r>
              <a:t>Showing Patients How to Lower Risk: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• The Big Problem It Solves:</a:t>
            </a:r>
            <a:br/>
            <a:r>
              <a:t>   Telling patients 'You have a 15% stroke risk' just scares them. They want to know: 'What can I do to fix it?'</a:t>
            </a:r>
            <a:br/>
            <a:br/>
            <a:r>
              <a:t>• Interactive Sliders:</a:t>
            </a:r>
            <a:br/>
            <a:r>
              <a:t>   - Drop Blood Pressure: Shows an immediate 4% to 8% drop in stroke danger.</a:t>
            </a:r>
            <a:br/>
            <a:r>
              <a:t>   - Control Blood Sugar: Shows a 2% to 5% risk drop.</a:t>
            </a:r>
            <a:br/>
            <a:r>
              <a:t>   - Quit Smoking: Erases the toxic tobacco hazard immediately.</a:t>
            </a:r>
            <a:br/>
            <a:br/>
            <a:r>
              <a:t>• Gives doctors an exact roadmap to counsel and motivate their patients.</a:t>
            </a:r>
          </a:p>
        </p:txBody>
      </p:sp>
      <p:pic>
        <p:nvPicPr>
          <p:cNvPr id="6" name="Picture 5" descr="after_wha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63040"/>
            <a:ext cx="548640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WHAT EACH TAB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Tab 3: SHAP Explainer — Peeking Inside the AI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9377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Explaining Exactly WHY the AI Made Its Call: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Ranked Body Factors (From Biggest to Smallest):</a:t>
            </a:r>
            <a:br/>
            <a:r>
              <a:t>   1. Age — The biggest factor in blood vessel wear</a:t>
            </a:r>
            <a:br/>
            <a:r>
              <a:t>   2. BMI (Body Mass) — Weight and metabolic strain</a:t>
            </a:r>
            <a:br/>
            <a:r>
              <a:t>   3. Blood Glucose — Sugar damaging vessel walls</a:t>
            </a:r>
            <a:br/>
            <a:r>
              <a:t>   4. Hypertension — High pressure stressing arteries</a:t>
            </a:r>
            <a:br/>
            <a:r>
              <a:t>   5. Smoking — Toxin damage to vessel linings</a:t>
            </a:r>
            <a:br/>
            <a:br/>
            <a:r>
              <a:t>• Waterfall Chart: Shows red bars pushing the patient toward danger and blue bars protecting them.</a:t>
            </a:r>
            <a:br/>
            <a:br/>
            <a:r>
              <a:t>• Discovered Synergy: High sugar is almost 6x more dangerous in people over 65 than in young adults.</a:t>
            </a:r>
          </a:p>
        </p:txBody>
      </p:sp>
      <p:pic>
        <p:nvPicPr>
          <p:cNvPr id="6" name="Picture 5" descr="after_sh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63040"/>
            <a:ext cx="548640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WHAT EACH TAB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Tab 4: Model Benchmarks — Proving It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9377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How Does It Compare to Other AI Models?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• Tested on 1,022 Unseen Real Patients:</a:t>
            </a:r>
            <a:br/>
            <a:r>
              <a:t>   We compared our CatBoost model against standard models (Logistic Regression, Random Forest, XGBoost).</a:t>
            </a:r>
            <a:br/>
            <a:br/>
            <a:r>
              <a:t>• Catches 84% of Stroke Patients:</a:t>
            </a:r>
            <a:br/>
            <a:r>
              <a:t>   Out of 50 real strokes in the test group, our model caught 42 of them! Other models only caught 30 or 38.</a:t>
            </a:r>
            <a:br/>
            <a:br/>
            <a:r>
              <a:t>• 75% Reduction in Probability Errors:</a:t>
            </a:r>
            <a:br/>
            <a:r>
              <a:t>   Our calibration dropped probability error from 0.17 down to 0.04, giving real, dependable percentages.</a:t>
            </a:r>
          </a:p>
        </p:txBody>
      </p:sp>
      <p:pic>
        <p:nvPicPr>
          <p:cNvPr id="6" name="Picture 5" descr="after_benchmar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63040"/>
            <a:ext cx="548640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WHAT EACH TAB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Tab 5: Framework Audit — Proving It's Fair &amp; Honest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9377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D9488"/>
                </a:solidFill>
              </a:defRPr>
            </a:pPr>
            <a:r>
              <a:t>Auditing Fairness and Clinical Value: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• No Cheating (Leakage-Free):</a:t>
            </a:r>
            <a:br/>
            <a:r>
              <a:t>   Proves step-by-step that the AI was trained strictly without seeing test answers in advance.</a:t>
            </a:r>
            <a:br/>
            <a:br/>
            <a:r>
              <a:t>• Equal Fairness to Men &amp; Women:</a:t>
            </a:r>
            <a:br/>
            <a:r>
              <a:t>   Model accuracy is practically identical between males (0.8389) and females (0.8403) — zero gender bias!</a:t>
            </a:r>
            <a:br/>
            <a:br/>
            <a:r>
              <a:t>• Net Benefit (Decision Curve):</a:t>
            </a:r>
            <a:br/>
            <a:r>
              <a:t>   Proves that using this tool detects 1.85 extra true strokes per 100 people without causing unnecessary false alarms.</a:t>
            </a:r>
          </a:p>
        </p:txBody>
      </p:sp>
      <p:pic>
        <p:nvPicPr>
          <p:cNvPr id="6" name="Picture 5" descr="after_kag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63040"/>
            <a:ext cx="548640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WHAT EACH TAB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Tab 6: Hospital Group Screening (Batch Upload)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9377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</a:defRPr>
            </a:pPr>
            <a:r>
              <a:t>Screening Hundreds of Patients at Once: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• Built for Hospitals and Clinics:</a:t>
            </a:r>
            <a:br/>
            <a:r>
              <a:t>   Instead of typing patients one by one, doctors can upload an entire spreadsheet (CSV) of hundreds of patients.</a:t>
            </a:r>
            <a:br/>
            <a:br/>
            <a:r>
              <a:t>• Color-Coded Risk Sorting:</a:t>
            </a:r>
            <a:br/>
            <a:r>
              <a:t>   Instantly separates patients into Green (Low), Yellow (Moderate), Orange (High), and Red (Critical Danger).</a:t>
            </a:r>
            <a:br/>
            <a:br/>
            <a:r>
              <a:t>• Community Health Insights:</a:t>
            </a:r>
            <a:br/>
            <a:r>
              <a:t>   Shows doctors the biggest problem in their community (e.g., '65% of your high-risk patients have untreated high blood pressure').</a:t>
            </a:r>
          </a:p>
        </p:txBody>
      </p:sp>
      <p:pic>
        <p:nvPicPr>
          <p:cNvPr id="6" name="Picture 5" descr="after_coh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63040"/>
            <a:ext cx="548640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REAL-WORLD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Why Is This System Truly Useful in Real Life?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560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2560320" cy="914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Saves Real Lives</a:t>
            </a:r>
          </a:p>
          <a:p>
            <a:pPr>
              <a:spcBef>
                <a:spcPts val="800"/>
              </a:spcBef>
              <a:defRPr sz="1300" b="1">
                <a:solidFill>
                  <a:srgbClr val="EF4444"/>
                </a:solidFill>
              </a:defRPr>
            </a:pPr>
            <a:r>
              <a:t>84% Stroke Detection</a:t>
            </a:r>
          </a:p>
          <a:p>
            <a:pPr>
              <a:spcBef>
                <a:spcPts val="800"/>
              </a:spcBef>
              <a:defRPr sz="1200">
                <a:solidFill>
                  <a:srgbClr val="475569"/>
                </a:solidFill>
              </a:defRPr>
            </a:pPr>
            <a:r>
              <a:t>Catches 42 out of 50 stroke cases, ensuring doctors don't accidentally send high-risk patients home.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463040"/>
            <a:ext cx="2560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29000" y="1463040"/>
            <a:ext cx="2560320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73736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Honest Percentages</a:t>
            </a:r>
          </a:p>
          <a:p>
            <a:pPr>
              <a:spcBef>
                <a:spcPts val="800"/>
              </a:spcBef>
              <a:defRPr sz="1300" b="1">
                <a:solidFill>
                  <a:srgbClr val="0D9488"/>
                </a:solidFill>
              </a:defRPr>
            </a:pPr>
            <a:r>
              <a:t>75% Error Reduction</a:t>
            </a:r>
          </a:p>
          <a:p>
            <a:pPr>
              <a:spcBef>
                <a:spcPts val="800"/>
              </a:spcBef>
              <a:defRPr sz="1200">
                <a:solidFill>
                  <a:srgbClr val="475569"/>
                </a:solidFill>
              </a:defRPr>
            </a:pPr>
            <a:r>
              <a:t>No more scary false numbers. If it says 5% risk, it really is 5%, stopping hospital panic.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463040"/>
            <a:ext cx="2560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463040"/>
            <a:ext cx="2560320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73736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Actionable Health Goals</a:t>
            </a:r>
          </a:p>
          <a:p>
            <a:pPr>
              <a:spcBef>
                <a:spcPts val="800"/>
              </a:spcBef>
              <a:defRPr sz="1300" b="1">
                <a:solidFill>
                  <a:srgbClr val="2563EB"/>
                </a:solidFill>
              </a:defRPr>
            </a:pPr>
            <a:r>
              <a:t>'What-If' Simulation</a:t>
            </a:r>
          </a:p>
          <a:p>
            <a:pPr>
              <a:spcBef>
                <a:spcPts val="800"/>
              </a:spcBef>
              <a:defRPr sz="1200">
                <a:solidFill>
                  <a:srgbClr val="475569"/>
                </a:solidFill>
              </a:defRPr>
            </a:pPr>
            <a:r>
              <a:t>Patients see exact proof that lowering blood pressure or quitting smoking cuts stroke danger.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60" y="1463040"/>
            <a:ext cx="2560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823960" y="1463040"/>
            <a:ext cx="2560320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40" y="173736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Ready for Hospitals</a:t>
            </a:r>
          </a:p>
          <a:p>
            <a:pPr>
              <a:spcBef>
                <a:spcPts val="800"/>
              </a:spcBef>
              <a:defRPr sz="1300" b="1">
                <a:solidFill>
                  <a:srgbClr val="F59E0B"/>
                </a:solidFill>
              </a:defRPr>
            </a:pPr>
            <a:r>
              <a:t>1-Page Printable Report</a:t>
            </a:r>
          </a:p>
          <a:p>
            <a:pPr>
              <a:spcBef>
                <a:spcPts val="800"/>
              </a:spcBef>
              <a:defRPr sz="1200">
                <a:solidFill>
                  <a:srgbClr val="475569"/>
                </a:solidFill>
              </a:defRPr>
            </a:pPr>
            <a:r>
              <a:t>Generates a clean paper report with test results, risk charts, and doctor sign-off line in 1 click.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FUTURE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Honest Limitations &amp; Next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9164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EF4444"/>
                </a:solidFill>
              </a:defRPr>
            </a:pPr>
            <a:r>
              <a:t>Current Limitations (Being Honest)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1. Works Best for Ages 55–70:</a:t>
            </a:r>
            <a:br/>
            <a:r>
              <a:t>   Very few young people under 55 have strokes (only 1%), making it harder for the AI to predict in that group.</a:t>
            </a:r>
            <a:br/>
            <a:br/>
            <a:r>
              <a:t>2. No Brain Scans (CT/MRI) Yet:</a:t>
            </a:r>
            <a:br/>
            <a:r>
              <a:t>   Currently uses clinical numbers (blood pressure, sugar, age). It does not yet look at brain picture scans.</a:t>
            </a:r>
            <a:br/>
            <a:br/>
            <a:r>
              <a:t>3. Research Prototype:</a:t>
            </a:r>
            <a:br/>
            <a:r>
              <a:t>   This is an academic research assistant to help doctors make decisions, not a replacement for a human doctor.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9164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D9488"/>
                </a:solidFill>
              </a:defRPr>
            </a:pPr>
            <a:r>
              <a:t>What We Plan to Build Next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1. Add Brain CT &amp; MRI Scan AI:</a:t>
            </a:r>
            <a:br/>
            <a:r>
              <a:t>   Combine picture scans with clinical numbers for even sharper accuracy.</a:t>
            </a:r>
            <a:br/>
            <a:br/>
            <a:r>
              <a:t>2. Connect Directly to Hospital Records:</a:t>
            </a:r>
            <a:br/>
            <a:r>
              <a:t>   Allow the tool to automatically pull patient numbers from hospital computer systems (EHR).</a:t>
            </a:r>
            <a:br/>
            <a:br/>
            <a:r>
              <a:t>3. Multi-Hospital Testing:</a:t>
            </a:r>
            <a:br/>
            <a:r>
              <a:t>   Test the software across hospitals in multiple cities and countries to make sure it helps everyone.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18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 algn="ctr">
              <a:spcBef>
                <a:spcPts val="1200"/>
              </a:spcBef>
              <a:defRPr sz="1800">
                <a:solidFill>
                  <a:srgbClr val="06B6D4"/>
                </a:solidFill>
              </a:defRPr>
            </a:pPr>
            <a:r>
              <a:t>NeuroPulse XAI: Turning Complicated AI Into Simple, Honest, Life-Saving Advice Doctors Can Trust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0" y="3474720"/>
            <a:ext cx="813816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0" y="3657600"/>
            <a:ext cx="7589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Researcher: Tanishka Mudgal (RA2311003011560)</a:t>
            </a:r>
          </a:p>
          <a:p>
            <a:pPr algn="ctr">
              <a:spcBef>
                <a:spcPts val="400"/>
              </a:spcBef>
              <a:defRPr sz="1300">
                <a:solidFill>
                  <a:srgbClr val="CBD5E1"/>
                </a:solidFill>
              </a:defRPr>
            </a:pPr>
            <a:r>
              <a:t>Department of Computing Technologies | SRM Institute of Science and Technology</a:t>
            </a:r>
          </a:p>
          <a:p>
            <a:pPr algn="ctr">
              <a:spcBef>
                <a:spcPts val="600"/>
              </a:spcBef>
              <a:defRPr sz="1200">
                <a:solidFill>
                  <a:srgbClr val="06B6D4"/>
                </a:solidFill>
              </a:defRPr>
            </a:pPr>
            <a:r>
              <a:t>Project Code: https://github.com/Tanishka-2004/stroke-xai-framework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